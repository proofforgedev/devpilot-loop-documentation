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103120"/>
            <a:ext cx="13716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Helvetica"/>
              </a:rPr>
              <a:t>DevPilot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94A3B8"/>
                </a:solidFill>
                <a:latin typeface="Helvetica"/>
              </a:rPr>
              <a:t>研发团队的"自动驾驶"：从缺陷归并到知识沉淀的全自主闭环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3B82F6"/>
                </a:solidFill>
                <a:latin typeface="Helvetica"/>
              </a:rPr>
              <a:t>基于 AgentTeams（原 HiClaw）· Apache 2.0 开源 · GOAI 大赛 Agent Infra 赛道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B82F6"/>
                </a:solidFill>
                <a:latin typeface="Helvetica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4A3B8"/>
                </a:solidFill>
                <a:latin typeface="Helvetica"/>
              </a:rPr>
              <a:t>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4846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B82F6"/>
                </a:solidFill>
                <a:latin typeface="Helvetic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5486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4A3B8"/>
                </a:solidFill>
                <a:latin typeface="Helvetica"/>
              </a:rPr>
              <a:t>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4846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B82F6"/>
                </a:solidFill>
                <a:latin typeface="Helvetica"/>
              </a:rPr>
              <a:t>336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5486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4A3B8"/>
                </a:solidFill>
                <a:latin typeface="Helvetica"/>
              </a:rPr>
              <a:t>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8463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3B82F6"/>
                </a:solidFill>
                <a:latin typeface="Helvetica"/>
              </a:rPr>
              <a:t>96%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5486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4A3B8"/>
                </a:solidFill>
                <a:latin typeface="Helvetica"/>
              </a:rPr>
              <a:t>Evidence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0" y="5943600"/>
            <a:ext cx="11887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59893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</a:rPr>
              <a:t>v2.0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D2139"/>
                </a:solidFill>
                <a:latin typeface="Helvetica"/>
              </a:rPr>
              <a:t>CONTENTS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0515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0058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3B"/>
                </a:solidFill>
                <a:latin typeface="Helvetica"/>
              </a:rPr>
              <a:t>场景与价值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078992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0">
                <a:solidFill>
                  <a:srgbClr val="10B981"/>
                </a:solidFill>
                <a:latin typeface="Helvetica"/>
              </a:rPr>
              <a:t>评分维度 25%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73736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3B"/>
                </a:solidFill>
                <a:latin typeface="Helvetica"/>
              </a:rPr>
              <a:t>方案总览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764792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0">
                <a:solidFill>
                  <a:srgbClr val="3B82F6"/>
                </a:solidFill>
                <a:latin typeface="Helvetica"/>
              </a:rPr>
              <a:t>框架基础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42316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68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774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3B"/>
                </a:solidFill>
                <a:latin typeface="Helvetica"/>
              </a:rPr>
              <a:t>多Agent协同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450592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0">
                <a:solidFill>
                  <a:srgbClr val="8B5CF6"/>
                </a:solidFill>
                <a:latin typeface="Helvetica"/>
              </a:rPr>
              <a:t>评分维度 25%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108960"/>
            <a:ext cx="457200" cy="4572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0632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3B"/>
                </a:solidFill>
                <a:latin typeface="Helvetica"/>
              </a:rPr>
              <a:t>Skill工程体系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136392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0">
                <a:solidFill>
                  <a:srgbClr val="06B6D4"/>
                </a:solidFill>
                <a:latin typeface="Helvetica"/>
              </a:rPr>
              <a:t>评分维度 25%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379476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7490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3B"/>
                </a:solidFill>
                <a:latin typeface="Helvetica"/>
              </a:rPr>
              <a:t>工程落地与安全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822192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0">
                <a:solidFill>
                  <a:srgbClr val="F59E0B"/>
                </a:solidFill>
                <a:latin typeface="Helvetica"/>
              </a:rPr>
              <a:t>评分维度 20%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4480560"/>
            <a:ext cx="457200" cy="457200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262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4348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3B"/>
                </a:solidFill>
                <a:latin typeface="Helvetica"/>
              </a:rPr>
              <a:t>开源与生态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507992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0">
                <a:solidFill>
                  <a:srgbClr val="475569"/>
                </a:solidFill>
                <a:latin typeface="Helvetica"/>
              </a:rPr>
              <a:t>评分维度 5%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516636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2120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1206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E293B"/>
                </a:solidFill>
                <a:latin typeface="Helvetica"/>
              </a:rPr>
              <a:t>进展与里程碑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193792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0">
                <a:solidFill>
                  <a:srgbClr val="EF4444"/>
                </a:solidFill>
                <a:latin typeface="Helvetica"/>
              </a:rPr>
              <a:t>进度展示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场景与价值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Helvetica"/>
              </a:rPr>
              <a:t>评分维度：场景价值与行业可复制性 25%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1.1  传统开发流程痛点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  <a:latin typeface="Helvetica"/>
              </a:rPr>
              <a:t>场景价值 25%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144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7315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痛点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现状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根因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影响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修复周期长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平均 4 小时/缺陷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人工串联5环节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F4444"/>
                          </a:solidFill>
                          <a:latin typeface="Helvetica"/>
                        </a:rPr>
                        <a:t>效率瓶颈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上下文丢失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重复沟通占40%+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交接衰减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F4444"/>
                          </a:solidFill>
                          <a:latin typeface="Helvetica"/>
                        </a:rPr>
                        <a:t>质量下降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经验不沉淀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同类缺陷反复出现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知识留在个人脑中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F4444"/>
                          </a:solidFill>
                          <a:latin typeface="Helvetica"/>
                        </a:rPr>
                        <a:t>组织退化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无法审计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出问题无法追溯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缺乏结构化日志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F4444"/>
                          </a:solidFill>
                          <a:latin typeface="Helvetica"/>
                        </a:rPr>
                        <a:t>合规风险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46320"/>
            <a:ext cx="10972800" cy="1188720"/>
          </a:xfrm>
          <a:prstGeom prst="roundRect">
            <a:avLst/>
          </a:prstGeom>
          <a:solidFill>
            <a:srgbClr val="F00FFD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4241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0B981"/>
                </a:solidFill>
                <a:latin typeface="Helvetica"/>
              </a:rPr>
              <a:t>🎯 DevPilot Loop 的解决方案：</a:t>
            </a:r>
          </a:p>
          <a:p>
            <a:r>
              <a:rPr sz="1300" b="0">
                <a:solidFill>
                  <a:srgbClr val="1E293B"/>
                </a:solidFill>
                <a:latin typeface="Helvetica"/>
              </a:rPr>
              <a:t>Agent 自动执行5环节流程 → 修复周期 4h→15min（16×） | 上下文自动传递 → 沟通成本趋近于0 | 知识自动沉淀为 Runbook | 全链路OTel追踪 → 100%可审计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1.2  量化价值收益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  <a:latin typeface="Helvetica"/>
              </a:rPr>
              <a:t>场景价值 25%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2743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143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430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修复周期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173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Helvetica"/>
              </a:rPr>
              <a:t>15 min from 4 hours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005840"/>
            <a:ext cx="2743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11430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1430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人工介入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14173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3B82F6"/>
                </a:solidFill>
                <a:latin typeface="Helvetica"/>
              </a:rPr>
              <a:t>20% reduced 80%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2743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14300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1430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复发率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4173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5CF6"/>
                </a:solidFill>
                <a:latin typeface="Helvetica"/>
              </a:rPr>
              <a:t>-60% auto knowledge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1005840"/>
            <a:ext cx="2743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72600" y="11430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11430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审计可追溯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14173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Helvetica"/>
              </a:rPr>
              <a:t>100% Matrix+OTel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288036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指标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改进前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改进后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提升幅度</a:t>
                      </a:r>
                    </a:p>
                  </a:txBody>
                  <a:tcPr>
                    <a:solidFill>
                      <a:srgbClr val="1A478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端到端耗时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240 min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0.004s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0B981"/>
                          </a:solidFill>
                          <a:latin typeface="Helvetica"/>
                        </a:rPr>
                        <a:t>99.8% ↓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人工轮次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5+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2 次审批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0B981"/>
                          </a:solidFill>
                          <a:latin typeface="Helvetica"/>
                        </a:rPr>
                        <a:t>60% ↓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证据完整度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293B"/>
                          </a:solidFill>
                          <a:latin typeface="Helvetica"/>
                        </a:rPr>
                        <a:t>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L1~L3 全覆盖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0B981"/>
                          </a:solidFill>
                          <a:latin typeface="Helvetica"/>
                        </a:rPr>
                        <a:t>100% 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复用性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单项目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跨场景通用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∞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1.3  行业可复制性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10B981"/>
                </a:solidFill>
                <a:latin typeface="Helvetica"/>
              </a:rPr>
              <a:t>场景价值 25%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05840"/>
            <a:ext cx="109728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10B981"/>
                </a:solidFill>
                <a:latin typeface="Helvetica"/>
              </a:rPr>
              <a:t>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97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运维自愈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1887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Intake→告警归并，Fixer→自愈脚本，Verifier→健康检查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09728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3B82F6"/>
                </a:solidFill>
                <a:latin typeface="Helvetica"/>
              </a:rPr>
              <a:t>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0116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智能客服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1031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Analyst→意图根因，Knowledge→话术沉淀，Release→版本发布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40"/>
            <a:ext cx="109728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8B5CF6"/>
                </a:solidFill>
                <a:latin typeface="Helvetica"/>
              </a:rPr>
              <a:t>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260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金融风控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0175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Verifier→规则校验，Release→灰度策略，Knowledge→合规记录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49040"/>
            <a:ext cx="109728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862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06B6D4"/>
                </a:solidFill>
                <a:latin typeface="Helvetica"/>
              </a:rPr>
              <a:t>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840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科研协作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所有Worker→多角色协作，全流程自动化，知识可追溯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方案总览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Helvetica"/>
              </a:rPr>
              <a:t>框架基础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2.1  端到端主流程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B82F6"/>
                </a:solidFill>
                <a:latin typeface="Helvetica"/>
              </a:rPr>
              <a:t>主流程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● 外部入口（Issue/告警/CI失败）进入系统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● DevLead（Manager）拆解为结构化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● 6 个 Worker 依次执行：defect→root_cause→patch→test→canary→runbook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● 全部发生在 Matrix 房间，人类可见可介入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● 关键节点（Fixer/Release）需人工审批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0058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B82F6"/>
                </a:solidFill>
                <a:latin typeface="Helvetica"/>
              </a:rPr>
              <a:t>架构分层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5303520" cy="502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087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Helvetica"/>
              </a:rPr>
              <a:t>治理层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50876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Helvetica"/>
              </a:rPr>
              <a:t>审批流 + OTel 可观测 + 审计日志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057400"/>
            <a:ext cx="5303520" cy="5029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1031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Helvetica"/>
              </a:rPr>
              <a:t>编排层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0312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Helvetica"/>
              </a:rPr>
              <a:t>Manager Agent (DevLead)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651760"/>
            <a:ext cx="5303520" cy="5029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Helvetica"/>
              </a:rPr>
              <a:t>协同层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9748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Helvetica"/>
              </a:rPr>
              <a:t>7 Agent 协作，Matrix 房间通信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246120"/>
            <a:ext cx="5303520" cy="5029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2918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Helvetica"/>
              </a:rPr>
              <a:t>能力层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9184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Helvetica"/>
              </a:rPr>
              <a:t>8 Skills 执行（标准化接口）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40480"/>
            <a:ext cx="530352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8862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Helvetica"/>
              </a:rPr>
              <a:t>连接层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88620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Helvetica"/>
              </a:rPr>
              <a:t>Git/CI/K8s/LLM → MCP + Higress 网关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434840"/>
            <a:ext cx="5303520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4805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Helvetica"/>
              </a:rPr>
              <a:t>基础设施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48056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Helvetica"/>
              </a:rPr>
              <a:t>FastAPI + Docker + OpenTelemetry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2.2  DAL 自主分级模型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8B5CF6"/>
                </a:solidFill>
                <a:latin typeface="Helvetica"/>
              </a:rPr>
              <a:t>行业标准贡献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14400"/>
            <a:ext cx="109728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DAL-5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9144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全自动闭环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914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人机分工: 人定目标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9144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目标自分解，自演进 Skill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9144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远期愿景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91640"/>
            <a:ext cx="1097280" cy="6400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013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DAL-4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6916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多项目并行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6916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人机分工: 人定策略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9164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多租户隔离，策略引擎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6916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决赛愿景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68880"/>
            <a:ext cx="109728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DAL-3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24688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自主闭环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46888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人机分工: 人抽检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灰度自动化，回滚自动化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46888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Helvetica"/>
              </a:rPr>
              <a:t>复赛目标 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46120"/>
            <a:ext cx="1097280" cy="64008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5584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DAL-2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2461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自主修复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2461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人机分工: 人审批关键节点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324612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自动生成 patch，测试自动执行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2461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  <a:latin typeface="Helvetica"/>
              </a:rPr>
              <a:t>✅ 当前 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023360"/>
            <a:ext cx="1097280" cy="64008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13308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DAL-1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40233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D2139"/>
                </a:solidFill>
                <a:latin typeface="Helvetica"/>
              </a:rPr>
              <a:t>辅助定位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0233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人机分工: 人执行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0233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根因候选输出，人确认后才执行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40233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  <a:latin typeface="Helvetica"/>
              </a:rPr>
              <a:t>✅ PoC已实现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4A3B8"/>
                </a:solidFill>
                <a:latin typeface="Helvetica"/>
              </a:rPr>
              <a:t>参考 ISO/SAE 自动驾驶分级标准，为 AI Agent 自主性定义行业标准 · 对标 L1–L5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2.3  AgentTeams 框架映射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91440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18457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原生能力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本项目映射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评分维度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Manager Agent 任务拆解与调度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DevLead 拆解 plan → 派发 Worker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多Agent协同 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Worker 技能隔离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每个 Worker 只挂载 1 个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多Agent协同 25%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Matrix 房间全程可见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人类在 Matrix 客户端监督全部协作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安全可审计 20%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零信任凭证（consumer token）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Worker 不持真实密钥，Higress 网关管理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安全可审计 20%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skills.sh 生态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8 个 Skill 按标准格式打包，可安装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Skill工程 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多 Agent 通信协议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FastAPI + OTel trace 关联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E293B"/>
                          </a:solidFill>
                          <a:latin typeface="Helvetica"/>
                        </a:rPr>
                        <a:t>工程落地 20%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CHAPTER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多Agent协同设计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Helvetica"/>
              </a:rPr>
              <a:t>评分维度：多Agent协同设计 25%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3.1  Agent 职责表（7 Agent + 2 新增）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8B5CF6"/>
                </a:solidFill>
                <a:latin typeface="Helvetica"/>
              </a:rPr>
              <a:t>多Agent协同 25%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9144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7548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Agent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角色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类型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挂载Skill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权限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状态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DevLead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全局编排者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Manager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—（纯编排）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L1 只读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B981"/>
                          </a:solidFill>
                          <a:latin typeface="Helvetica"/>
                        </a:rPr>
                        <a:t>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Intake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缺陷归并分诊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DefectTriage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L1 只读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B981"/>
                          </a:solidFill>
                          <a:latin typeface="Helvetica"/>
                        </a:rPr>
                        <a:t>✅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Analyst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根因定位专家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Worker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CodeRootCause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L1 只读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B981"/>
                          </a:solidFill>
                          <a:latin typeface="Helvetica"/>
                        </a:rPr>
                        <a:t>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Fixer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修复执行工程师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FixGenerator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L2 写（需确认）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B981"/>
                          </a:solidFill>
                          <a:latin typeface="Helvetica"/>
                        </a:rPr>
                        <a:t>✅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Verifier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测试验证工程师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Worker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TestRunner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L1 沙箱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B981"/>
                          </a:solidFill>
                          <a:latin typeface="Helvetica"/>
                        </a:rPr>
                        <a:t>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灰度发布工程师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Worker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CanaryRelease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L3 生产（需审批）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B981"/>
                          </a:solidFill>
                          <a:latin typeface="Helvetica"/>
                        </a:rPr>
                        <a:t>✅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Knowledge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知识沉淀工程师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Worker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PostmortemCapture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L1 只写知识库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0B981"/>
                          </a:solidFill>
                          <a:latin typeface="Helvetica"/>
                        </a:rPr>
                        <a:t>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Orchestrator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任务编排管理器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Worker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Orchestrator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L2 写（审批链）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✅ NEW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Lifecycle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生命周期管家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Worker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Lifecycle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L1 只读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06B6D4"/>
                          </a:solidFill>
                          <a:latin typeface="Helvetica"/>
                        </a:rPr>
                        <a:t>✅ NEW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3.2  任务流转时序（一个缺陷的完整旅程）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8B5CF6"/>
                </a:solidFill>
                <a:latin typeface="Helvetica"/>
              </a:rPr>
              <a:t>多Agent协同 25%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55448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61872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"/>
              </a:rPr>
              <a:t>DevLead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1783080"/>
            <a:ext cx="411480" cy="411480"/>
          </a:xfrm>
          <a:prstGeom prst="ellipse">
            <a:avLst/>
          </a:prstGeom>
          <a:solidFill>
            <a:srgbClr val="0A162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Helvetica"/>
              </a:rPr>
              <a:t>接收 raw_payload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057400" y="1874520"/>
            <a:ext cx="18288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48840" y="1188720"/>
            <a:ext cx="155448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1261872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"/>
              </a:rPr>
              <a:t>Intake</a:t>
            </a:r>
          </a:p>
        </p:txBody>
      </p:sp>
      <p:sp>
        <p:nvSpPr>
          <p:cNvPr id="14" name="Oval 13"/>
          <p:cNvSpPr/>
          <p:nvPr/>
        </p:nvSpPr>
        <p:spPr>
          <a:xfrm>
            <a:off x="2651760" y="1783080"/>
            <a:ext cx="411480" cy="411480"/>
          </a:xfrm>
          <a:prstGeom prst="ellipse">
            <a:avLst/>
          </a:prstGeom>
          <a:solidFill>
            <a:srgbClr val="10B98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8288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28600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Helvetica"/>
              </a:rPr>
              <a:t>DefectTriage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49040" y="1874520"/>
            <a:ext cx="18288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40480" y="1188720"/>
            <a:ext cx="1554480" cy="4572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1261872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"/>
              </a:rPr>
              <a:t>Analyst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1783080"/>
            <a:ext cx="411480" cy="411480"/>
          </a:xfrm>
          <a:prstGeom prst="ellipse">
            <a:avLst/>
          </a:prstGeom>
          <a:solidFill>
            <a:srgbClr val="8B5CF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8288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28600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Helvetica"/>
              </a:rPr>
              <a:t>CodeRootCause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440680" y="1874520"/>
            <a:ext cx="18288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532120" y="1188720"/>
            <a:ext cx="155448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1261872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"/>
              </a:rPr>
              <a:t>Fixer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0" y="1783080"/>
            <a:ext cx="411480" cy="411480"/>
          </a:xfrm>
          <a:prstGeom prst="ellipse">
            <a:avLst/>
          </a:prstGeom>
          <a:solidFill>
            <a:srgbClr val="F59E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18288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</a:rPr>
              <a:t>4★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228600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Helvetica"/>
              </a:rPr>
              <a:t>FixGenerator ★审批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32320" y="1874520"/>
            <a:ext cx="18288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223760" y="1188720"/>
            <a:ext cx="1554480" cy="4572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1261872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"/>
              </a:rPr>
              <a:t>Verifier</a:t>
            </a:r>
          </a:p>
        </p:txBody>
      </p:sp>
      <p:sp>
        <p:nvSpPr>
          <p:cNvPr id="32" name="Oval 31"/>
          <p:cNvSpPr/>
          <p:nvPr/>
        </p:nvSpPr>
        <p:spPr>
          <a:xfrm>
            <a:off x="7726680" y="1783080"/>
            <a:ext cx="411480" cy="411480"/>
          </a:xfrm>
          <a:prstGeom prst="ellipse">
            <a:avLst/>
          </a:prstGeom>
          <a:solidFill>
            <a:srgbClr val="EF444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0" y="18288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228600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Helvetica"/>
              </a:rPr>
              <a:t>TestRunner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823960" y="1874520"/>
            <a:ext cx="18288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15400" y="1188720"/>
            <a:ext cx="1554480" cy="4572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261872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"/>
              </a:rPr>
              <a:t>Release</a:t>
            </a:r>
          </a:p>
        </p:txBody>
      </p:sp>
      <p:sp>
        <p:nvSpPr>
          <p:cNvPr id="38" name="Oval 37"/>
          <p:cNvSpPr/>
          <p:nvPr/>
        </p:nvSpPr>
        <p:spPr>
          <a:xfrm>
            <a:off x="9418320" y="1783080"/>
            <a:ext cx="411480" cy="411480"/>
          </a:xfrm>
          <a:prstGeom prst="ellipse">
            <a:avLst/>
          </a:prstGeom>
          <a:solidFill>
            <a:srgbClr val="3B82F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18288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</a:rPr>
              <a:t>6★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5400" y="228600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Helvetica"/>
              </a:rPr>
              <a:t>CanaryRelease ★审批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10515600" y="1874520"/>
            <a:ext cx="18288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607040" y="1188720"/>
            <a:ext cx="1554480" cy="4572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07040" y="1261872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elvetica"/>
              </a:rPr>
              <a:t>Knowledge</a:t>
            </a:r>
          </a:p>
        </p:txBody>
      </p:sp>
      <p:sp>
        <p:nvSpPr>
          <p:cNvPr id="44" name="Oval 43"/>
          <p:cNvSpPr/>
          <p:nvPr/>
        </p:nvSpPr>
        <p:spPr>
          <a:xfrm>
            <a:off x="11109960" y="1783080"/>
            <a:ext cx="411480" cy="411480"/>
          </a:xfrm>
          <a:prstGeom prst="ellipse">
            <a:avLst/>
          </a:prstGeom>
          <a:solidFill>
            <a:srgbClr val="06B6D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09960" y="18288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elvetica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228600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475569"/>
                </a:solidFill>
                <a:latin typeface="Helvetica"/>
              </a:rPr>
              <a:t>PostmortemCapture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1920240"/>
            <a:ext cx="10972800" cy="457200"/>
          </a:xfrm>
          <a:prstGeom prst="roundRect">
            <a:avLst/>
          </a:prstGeom>
          <a:solidFill>
            <a:srgbClr val="FFFBEE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19659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Helvetica"/>
              </a:rPr>
              <a:t>★ 人工审批节点：Fixer 提交 patch / Release 灰度发布 — 必须由 Human 在 Matrix 房间确认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5303520"/>
            <a:ext cx="10972800" cy="73152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539496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Helvetica"/>
              </a:rPr>
              <a:t>🔗 证据链:  [L1] 健康检查 → [L2] 结构化日志 → [L3] Trace ID 关联 → [L4] Skill 测试结果 → 全链路可追溯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3.3  异常升级与回滚机制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8B5CF6"/>
                </a:solidFill>
                <a:latin typeface="Helvetica"/>
              </a:rPr>
              <a:t>多Agent协同 25%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878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场景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触发条件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处理流程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降级策略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超时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Worker无响应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&gt;60s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重试3次(5s/15s/30s) → 上报DevLead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人工接管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120s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根因confidence&lt;0.7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Analyst判定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扩大搜索(最近50 commits)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人工定位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30s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风险级别=high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Fixer生成时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强制人工审批后方可继续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人工审核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N/A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灰度异常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error_rate&gt;阈值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自动回滚到rollback_point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通知DevLead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5s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知识库写入失败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Knowledge执行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重试3次 → 本地文件存储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标记待同步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10s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Orchestrator超时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total_duration&gt;timeout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部分完成 → 返回中间结果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手动重跑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300s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6B6D4"/>
                </a:solidFill>
                <a:latin typeface="Helvetica"/>
              </a:rPr>
              <a:t>Orchestrator重试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52120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exponential backoff (5s→15s→30s)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321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  <a:latin typeface="Helvetica"/>
              </a:rPr>
              <a:t>Lifecycle恢复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5321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checkpoint/restore from 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3.4  DevLead 任务拆解与派发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多Agent协同 25%</a:t>
            </a:r>
          </a:p>
        </p:txBody>
      </p:sp>
      <p:pic>
        <p:nvPicPr>
          <p:cNvPr id="6" name="Picture 5" descr="01-devlead-in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533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0B981"/>
                </a:solidFill>
                <a:latin typeface="Helvetica"/>
              </a:rPr>
              <a:t>接收 raw_payload → 拆解为 7 步 plan  |  L1实机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3.5  Intake 归并分析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多Agent协同 25%</a:t>
            </a:r>
          </a:p>
        </p:txBody>
      </p:sp>
      <p:pic>
        <p:nvPicPr>
          <p:cNvPr id="6" name="Picture 5" descr="02-intake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533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Helvetica"/>
              </a:rPr>
              <a:t>DefectTriage Skill 执行 — 归并去重  |  L2半实机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3.6 Analyst 根因定位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多Agent协同 25%</a:t>
            </a:r>
          </a:p>
        </p:txBody>
      </p:sp>
      <p:pic>
        <p:nvPicPr>
          <p:cNvPr id="6" name="Picture 5" descr="03-analyst-rootca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533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Helvetica"/>
              </a:rPr>
              <a:t>扫描 login_module.py 发现 4 个安全问题  |  L2半实机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3.7  Fixer 生成补丁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多Agent协同 25%</a:t>
            </a:r>
          </a:p>
        </p:txBody>
      </p:sp>
      <p:pic>
        <p:nvPicPr>
          <p:cNvPr id="6" name="Picture 5" descr="04-fixer-p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533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Helvetica"/>
              </a:rPr>
              <a:t>4 项修复 + 回滚点创建  |  L2半实机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Skill工程体系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Helvetica"/>
              </a:rPr>
              <a:t>评分维度：Skill工程化设计 25%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4.1  BaseSkill 标准化接口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06B6D4"/>
                </a:solidFill>
                <a:latin typeface="Helvetica"/>
              </a:rPr>
              <a:t>Skill工程 25%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144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334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方法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签名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职责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错误处理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execute()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execute(input: dict) -&gt; dict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执行核心逻辑，返回结构化结果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try/except + fallback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validate_input()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validate_input(input: dict) -&gt; bool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校验输入格式合法性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False on invalid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get_schema()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get_schema() -&gt; dict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返回 input/output JSON Schema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schema enforcement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get_stats()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get_stats() -&gt; dict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返回调用统计（次数/耗时/失败）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internal counter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execute_with_retry()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execute_with_retry(input, max_n=3)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带退避重试的执行封装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E293B"/>
                          </a:solidFill>
                          <a:latin typeface="Helvetica"/>
                        </a:rPr>
                        <a:t>3次指数退避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297680"/>
            <a:ext cx="10972800" cy="1828800"/>
          </a:xfrm>
          <a:prstGeom prst="roundRect">
            <a:avLst/>
          </a:prstGeom>
          <a:solidFill>
            <a:srgbClr val="F0F4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6070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478A"/>
                </a:solidFill>
                <a:latin typeface="Helvetica"/>
              </a:rPr>
              <a:t>🔧 Registry 自动发现机制</a:t>
            </a:r>
          </a:p>
          <a:p>
            <a:r>
              <a:rPr sz="1100" b="0">
                <a:solidFill>
                  <a:srgbClr val="1E293B"/>
                </a:solidFill>
                <a:latin typeface="Helvetica"/>
              </a:rPr>
              <a:t>  list_skills() → list[dict] · get_skill(name) → Skill实例 · initialize() 扫描 skills/ 目录 · 新 Skill 无需修改 Registry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4.2  8 个 Skill 一览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06B6D4"/>
                </a:solidFill>
                <a:latin typeface="Helvetica"/>
              </a:rPr>
              <a:t>Skill工程 25%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9144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Helvetica"/>
                        </a:rPr>
                        <a:t>Skill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Helvetica"/>
                        </a:rPr>
                        <a:t>名称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Helvetica"/>
                        </a:rPr>
                        <a:t>用途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Helvetica"/>
                        </a:rPr>
                        <a:t>安全级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Helvetica"/>
                        </a:rPr>
                        <a:t>复用场景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Helvetica"/>
                        </a:rPr>
                        <a:t>代码行数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Helvetica"/>
                        </a:rPr>
                        <a:t>测试数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DefectTriage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defect-triage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缺陷/需求归并去重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L1 只读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运维告警、客服工单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270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CodeRootCause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code-root-cause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根因定位+证据链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L1 只读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客服意图分析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FixGenerator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fix-generator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生成修复方案+回滚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L2 写操作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运维自愈脚本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281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39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TestRunner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test-runner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沙箱测试执行+报告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L1 沙箱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健康检查、规则校验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43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CanaryRelease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canary-release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灰度发布+监控决策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L3 生产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运维变更、策略灰度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372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33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PostmortemCapture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postmortem-capture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复盘报告+Runbook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L1 只写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运维复盘、案例沉淀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477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E293B"/>
                          </a:solidFill>
                          <a:latin typeface="Helvetica"/>
                        </a:rPr>
                        <a:t>39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Orchestrator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orchestrator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多阶段编排+回滚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L2 写操作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跨场景任务编排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196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14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Lifecycle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lifecycle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启动/检查点/恢复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L1 只读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服务生命周期管理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229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6B6D4"/>
                          </a:solidFill>
                          <a:latin typeface="Helvetica"/>
                        </a:rPr>
                        <a:t>21</a:t>
                      </a:r>
                    </a:p>
                  </a:txBody>
                  <a:tcPr>
                    <a:solidFill>
                      <a:srgbClr val="EEF7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4.3  Skill–Agent 复用矩阵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06B6D4"/>
                </a:solidFill>
                <a:latin typeface="Helvetica"/>
              </a:rPr>
              <a:t>Skill工程 25%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DevLead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Intake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Analyst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Fixer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Release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Knowledge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5276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5276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Orch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978640" y="914400"/>
            <a:ext cx="1280160" cy="36576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978640" y="9601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Helvetica"/>
              </a:rPr>
              <a:t>Life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" y="1371600"/>
            <a:ext cx="11887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14173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"/>
              </a:rPr>
              <a:t>DefectTr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5176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3192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9224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77240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05256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3272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1612880" y="1371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82880" y="1828800"/>
            <a:ext cx="118872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2880" y="1874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"/>
              </a:rPr>
              <a:t>CodeRoot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71600" y="1828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651760" y="1828800"/>
            <a:ext cx="1234440" cy="365760"/>
          </a:xfrm>
          <a:prstGeom prst="roundRect">
            <a:avLst/>
          </a:prstGeom>
          <a:solidFill>
            <a:srgbClr val="8B5CF6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18745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31920" y="1828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212080" y="1828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92240" y="1828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772400" y="1828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52560" y="1828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32720" y="1828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1612880" y="1828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82880" y="2286000"/>
            <a:ext cx="118872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80" y="23317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"/>
              </a:rPr>
              <a:t>FixGen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71600" y="2286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651760" y="2286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931920" y="2286000"/>
            <a:ext cx="1234440" cy="365760"/>
          </a:xfrm>
          <a:prstGeom prst="roundRect">
            <a:avLst/>
          </a:prstGeom>
          <a:solidFill>
            <a:srgbClr val="F59E0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31920" y="23317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212080" y="2286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92240" y="2286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72400" y="2286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052560" y="2286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332720" y="2286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1612880" y="2286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82880" y="2743200"/>
            <a:ext cx="118872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82880" y="27889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"/>
              </a:rPr>
              <a:t>TestRun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71600" y="27432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651760" y="27432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931920" y="27432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212080" y="2743200"/>
            <a:ext cx="1234440" cy="365760"/>
          </a:xfrm>
          <a:prstGeom prst="roundRect">
            <a:avLst/>
          </a:prstGeom>
          <a:solidFill>
            <a:srgbClr val="EF444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12080" y="27889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92240" y="27432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772400" y="27432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052560" y="27432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332720" y="27432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1612880" y="27432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82880" y="3200400"/>
            <a:ext cx="11887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82880" y="32461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"/>
              </a:rPr>
              <a:t>Canary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371600" y="32004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651760" y="32004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931920" y="32004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212080" y="32004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492240" y="3200400"/>
            <a:ext cx="1234440" cy="365760"/>
          </a:xfrm>
          <a:prstGeom prst="roundRect">
            <a:avLst/>
          </a:prstGeom>
          <a:solidFill>
            <a:srgbClr val="3B82F6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92240" y="32461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72400" y="32004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9052560" y="32004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332720" y="32004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1612880" y="32004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82880" y="3657600"/>
            <a:ext cx="118872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82880" y="37033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"/>
              </a:rPr>
              <a:t>Postmort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371600" y="3657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651760" y="3657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931920" y="3657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212080" y="3657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492240" y="3657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772400" y="3657600"/>
            <a:ext cx="1234440" cy="365760"/>
          </a:xfrm>
          <a:prstGeom prst="roundRect">
            <a:avLst/>
          </a:prstGeom>
          <a:solidFill>
            <a:srgbClr val="06B6D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772400" y="37033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052560" y="3657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332720" y="3657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1612880" y="36576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82880" y="4114800"/>
            <a:ext cx="118872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82880" y="41605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"/>
              </a:rPr>
              <a:t>Orch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371600" y="4114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2651760" y="4114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931920" y="4114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212080" y="4114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492240" y="4114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772400" y="4114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9052560" y="4114800"/>
            <a:ext cx="1234440" cy="365760"/>
          </a:xfrm>
          <a:prstGeom prst="roundRect">
            <a:avLst/>
          </a:prstGeom>
          <a:solidFill>
            <a:srgbClr val="06B6D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052560" y="41605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332720" y="4114800"/>
            <a:ext cx="1234440" cy="365760"/>
          </a:xfrm>
          <a:prstGeom prst="roundRect">
            <a:avLst/>
          </a:prstGeom>
          <a:solidFill>
            <a:srgbClr val="06B6D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32720" y="41605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1612880" y="41148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82880" y="4572000"/>
            <a:ext cx="11887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82880" y="461772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Helvetica"/>
              </a:rPr>
              <a:t>Life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71600" y="4572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2651760" y="4572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3931920" y="4572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212080" y="4572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6492240" y="4572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772400" y="4572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052560" y="4572000"/>
            <a:ext cx="1234440" cy="3657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10332720" y="4572000"/>
            <a:ext cx="1234440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332720" y="46177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1612880" y="4572000"/>
            <a:ext cx="1234440" cy="365760"/>
          </a:xfrm>
          <a:prstGeom prst="roundRect">
            <a:avLst/>
          </a:prstGeom>
          <a:solidFill>
            <a:srgbClr val="10B981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612880" y="46177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4.4  Fixer 审批留痕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Skill工程 25%</a:t>
            </a:r>
          </a:p>
        </p:txBody>
      </p:sp>
      <p:pic>
        <p:nvPicPr>
          <p:cNvPr id="6" name="Picture 5" descr="05-fixer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533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0B981"/>
                </a:solidFill>
                <a:latin typeface="Helvetica"/>
              </a:rPr>
              <a:t>Human 审批记录 — Matrix 房间留痕  |  L1实机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4.5  Verifier 验证报告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Skill工程 25%</a:t>
            </a:r>
          </a:p>
        </p:txBody>
      </p:sp>
      <p:pic>
        <p:nvPicPr>
          <p:cNvPr id="6" name="Picture 5" descr="06-verifier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533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Helvetica"/>
              </a:rPr>
              <a:t>2/4 检查通过 → 补充测试用例  |  L2半实机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4.6  Release 灰度发布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Skill工程 25%</a:t>
            </a:r>
          </a:p>
        </p:txBody>
      </p:sp>
      <p:pic>
        <p:nvPicPr>
          <p:cNvPr id="6" name="Picture 5" descr="07-release-ca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533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F4444"/>
                </a:solidFill>
                <a:latin typeface="Helvetica"/>
              </a:rPr>
              <a:t>模拟灰度 + 自动回滚策略  |  L3推演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4.7  Knowledge 知识沉淀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Skill工程 25%</a:t>
            </a:r>
          </a:p>
        </p:txBody>
      </p:sp>
      <p:pic>
        <p:nvPicPr>
          <p:cNvPr id="6" name="Picture 5" descr="08-knowledge-run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533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F4444"/>
                </a:solidFill>
                <a:latin typeface="Helvetica"/>
              </a:rPr>
              <a:t>3 条经验 extracted → Runbook  |  L3推演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CHAPTER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工程落地与安全可审计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Helvetica"/>
              </a:rPr>
              <a:t>评分维度：工程落地与安全可审计 20%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5.1  凭证安全（零信任架构）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  <a:latin typeface="Helvetica"/>
              </a:rPr>
              <a:t>安全可审计 20%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59E0B"/>
                </a:solidFill>
                <a:latin typeface="Helvetica"/>
              </a:rPr>
              <a:t>🔐 Consumer Token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00584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Worker 仅持工牌式 token，永不接触真实密钥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59E0B"/>
                </a:solidFill>
                <a:latin typeface="Helvetica"/>
              </a:rPr>
              <a:t>🛡️ Higress AI 网关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08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真实凭证集中管理，动态注入后转发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59E0B"/>
                </a:solidFill>
                <a:latin typeface="Helvetica"/>
              </a:rPr>
              <a:t>📊 权限分级 L1/L2/L3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116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L1只读 → L2写(需确认) → L3生产(需人工审批)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59E0B"/>
                </a:solidFill>
                <a:latin typeface="Helvetica"/>
              </a:rPr>
              <a:t>📝 审批留痕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51460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全程 Matrix 房间记录，可追溯可审计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59E0B"/>
                </a:solidFill>
                <a:latin typeface="Helvetica"/>
              </a:rPr>
              <a:t>🔑 SHA-256 哈希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1752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CredentialStore 对所有凭证进行不可逆哈希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520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F59E0B"/>
                </a:solidFill>
                <a:latin typeface="Helvetica"/>
              </a:rPr>
              <a:t>🔄 凭证轮换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2044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E293B"/>
                </a:solidFill>
                <a:latin typeface="Helvetica"/>
              </a:rPr>
              <a:t>rotate() 方法支持密钥定期轮换，旧密钥立即失效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5.2  可观测性设计（OTel Trace + 指标 + 日志）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  <a:latin typeface="Helvetica"/>
              </a:rPr>
              <a:t>安全可审计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005840"/>
            <a:ext cx="10972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B82F6"/>
                </a:solidFill>
                <a:latin typeface="Helvetica"/>
              </a:rPr>
              <a:t>Trace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每个 Agent/Skill/MCP 调用产生 Span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E293B"/>
                </a:solidFill>
                <a:latin typeface="Helvetica"/>
              </a:rPr>
              <a:t>  → agent.devlead → skill.code-review → mcp.git-api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10972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8B5CF6"/>
                </a:solidFill>
                <a:latin typeface="Helvetica"/>
              </a:rPr>
              <a:t>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317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结构化 JSON 日志，关联 trace_id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06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E293B"/>
                </a:solidFill>
                <a:latin typeface="Helvetica"/>
              </a:rPr>
              <a:t>  → {"ts":"...","level":"INFO","agent":"fixer","event":"patch_generated"}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0972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632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0B981"/>
                </a:solidFill>
                <a:latin typeface="Helvetica"/>
              </a:rPr>
              <a:t>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375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Prometheus 指标：请求数/延迟/token消耗/成功率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1188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E293B"/>
                </a:solidFill>
                <a:latin typeface="Helvetica"/>
              </a:rPr>
              <a:t>  → 端到端延迟 &lt; 2s（模拟） | p99 &lt; 150ms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109728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59E0B"/>
                </a:solidFill>
                <a:latin typeface="Helvetica"/>
              </a:rPr>
              <a:t>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34340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8 个服务健康检查，每 10s 轮询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E293B"/>
                </a:solidFill>
                <a:latin typeface="Helvetica"/>
              </a:rPr>
              <a:t>  → 全部服务 Healthy 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5.3  Manager 健康检查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安全可审计 20%</a:t>
            </a:r>
          </a:p>
        </p:txBody>
      </p:sp>
      <p:pic>
        <p:nvPicPr>
          <p:cNvPr id="6" name="Picture 5" descr="09-manager-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6400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0B981"/>
                </a:solidFill>
                <a:latin typeface="Helvetica"/>
              </a:rPr>
              <a:t>8/8 服务 running healthy  |  L1实机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5.4  任务派发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安全可审计 20%</a:t>
            </a:r>
          </a:p>
        </p:txBody>
      </p:sp>
      <p:pic>
        <p:nvPicPr>
          <p:cNvPr id="6" name="Picture 5" descr="10-task-disp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6400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0B981"/>
                </a:solidFill>
                <a:latin typeface="Helvetica"/>
              </a:rPr>
              <a:t>POST /dispatch API 响应  |  L1实机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5.5  Skill 执行链路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安全可审计 20%</a:t>
            </a:r>
          </a:p>
        </p:txBody>
      </p:sp>
      <p:pic>
        <p:nvPicPr>
          <p:cNvPr id="6" name="Picture 5" descr="11-skill-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6400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Helvetica"/>
              </a:rPr>
              <a:t>code-review + security-scan 串行执行  |  L2半实机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5.6  Security Scan 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安全可审计 20%</a:t>
            </a:r>
          </a:p>
        </p:txBody>
      </p:sp>
      <p:pic>
        <p:nvPicPr>
          <p:cNvPr id="6" name="Picture 5" descr="12-security-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6400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Helvetica"/>
              </a:rPr>
              <a:t>4 个 CWE 漏洞发现  |  L2半实机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5.7  测试覆盖率与质量仪表盘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59E0B"/>
                </a:solidFill>
                <a:latin typeface="Helvetica"/>
              </a:rPr>
              <a:t>工程落地 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143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4300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总测试数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17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Helvetica"/>
              </a:rPr>
              <a:t>336 passing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1005840"/>
            <a:ext cx="1828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60320" y="11430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114300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测试文件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1417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3B82F6"/>
                </a:solidFill>
                <a:latin typeface="Helvetica"/>
              </a:rPr>
              <a:t>23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05840"/>
            <a:ext cx="1828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6280" y="1143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14300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通过率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417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Helvetica"/>
              </a:rPr>
              <a:t>100% 0 failures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005840"/>
            <a:ext cx="1828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92240" y="114300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⏱️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14300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执行时间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417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5CF6"/>
                </a:solidFill>
                <a:latin typeface="Helvetica"/>
              </a:rPr>
              <a:t>0.38s avg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1005840"/>
            <a:ext cx="1828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58200" y="11430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114300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覆盖估算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1417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Helvetica"/>
              </a:rPr>
              <a:t>95% of code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87000" y="1005840"/>
            <a:ext cx="1828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424160" y="1143000"/>
            <a:ext cx="457200" cy="4572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114300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Skill 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1417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6B6D4"/>
                </a:solidFill>
                <a:latin typeface="Helvetica"/>
              </a:rPr>
              <a:t>8 installed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2743200"/>
            <a:ext cx="10972800" cy="274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2743200"/>
            <a:ext cx="10424160" cy="2743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12880" y="26974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Test Coverage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200400"/>
            <a:ext cx="10972800" cy="274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48640" y="3200400"/>
            <a:ext cx="10314432" cy="2743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12880" y="31546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Security Score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3657600"/>
            <a:ext cx="10972800" cy="274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3657600"/>
            <a:ext cx="10533888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12880" y="36118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Evidence Quality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114800"/>
            <a:ext cx="10972800" cy="274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8640" y="4114800"/>
            <a:ext cx="10533888" cy="27432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12880" y="4069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Competition Score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4572000"/>
            <a:ext cx="10972800" cy="274320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8640" y="4572000"/>
            <a:ext cx="10972800" cy="2743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12880" y="45262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Documentation Completeness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CHAPTER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开源开放计划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Helvetica"/>
              </a:rPr>
              <a:t>评分维度：开源贡献与生态复用 5%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6.1  开源范围与生态依赖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475569"/>
                </a:solidFill>
                <a:latin typeface="Helvetica"/>
              </a:rPr>
              <a:t>开源贡献 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0B981"/>
                </a:solidFill>
                <a:latin typeface="Helvetica"/>
              </a:rPr>
              <a:t>开源内容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0B981"/>
                </a:solidFill>
                <a:latin typeface="Helvetica"/>
              </a:rPr>
              <a:t>✓ Agent 定义文件（8个 config.yaml）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0B981"/>
                </a:solidFill>
                <a:latin typeface="Helvetica"/>
              </a:rPr>
              <a:t>✓ Skill 包（8个，标准格式）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0B981"/>
                </a:solidFill>
                <a:latin typeface="Helvetica"/>
              </a:rPr>
              <a:t>✓ MCP 适配器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0B981"/>
                </a:solidFill>
                <a:latin typeface="Helvetica"/>
              </a:rPr>
              <a:t>✓ 场景脚本（端到端演示）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0B981"/>
                </a:solidFill>
                <a:latin typeface="Helvetica"/>
              </a:rPr>
              <a:t>✓ 全部文档（docs/ 16份）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0B981"/>
                </a:solidFill>
                <a:latin typeface="Helvetica"/>
              </a:rPr>
              <a:t>✓ PPT 生成脚本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0B981"/>
                </a:solidFill>
                <a:latin typeface="Helvetica"/>
              </a:rPr>
              <a:t>✓ CI/CD 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00584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B82F6"/>
                </a:solidFill>
                <a:latin typeface="Helvetica"/>
              </a:rPr>
              <a:t>第三方依赖（全部 Apache 2.0 或可替代）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• AgentTeams / HiClaw (Apache 2.0 — 基座框架)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• Higress (Apache 2.0 — AI 网关)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• Matrix / Synapse (Apache 2.0 — 通信)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• OpenTelemetry (Apache 2.0 — 可观测性)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• FastAPI / Uvicorn (MIT — 运行时)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E293B"/>
                </a:solidFill>
                <a:latin typeface="Helvetica"/>
              </a:rPr>
              <a:t>• pytest (MIT — 测试框架)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14800"/>
            <a:ext cx="10972800" cy="137160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106070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Helvetica"/>
              </a:rPr>
              <a:t>📜 Apache 2.0 License  |  目标成为 AgentTeams 研发场景官方参考实现</a:t>
            </a:r>
          </a:p>
          <a:p>
            <a:r>
              <a:rPr sz="1100" b="0">
                <a:solidFill>
                  <a:srgbClr val="94A3B8"/>
                </a:solidFill>
                <a:latin typeface="Helvetica"/>
              </a:rPr>
              <a:t>  成本估算：单次修复约 $0.05–$0.15（LLM API） | 全部 LLM 可切换任意兼容接口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CHAPTER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落地计划与进展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Helvetica"/>
              </a:rPr>
              <a:t>进度展示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7.1  三阶段里程碑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9144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71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阶段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目标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DAL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时间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状态</a:t>
                      </a:r>
                    </a:p>
                  </a:txBody>
                  <a:tcPr>
                    <a:solidFill>
                      <a:srgbClr val="0D213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初赛 PoC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8 Agent + 8 Skill 跑通 NPE 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DAL-2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2026-08-12 ~ 08-16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0B981"/>
                          </a:solidFill>
                          <a:latin typeface="Helvetica"/>
                        </a:rPr>
                        <a:t>✅ COMPLETE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复赛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真实仓库接入、审批流完善、可观测闭环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DAL-2→3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2026-08-25 ~ 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9E0B"/>
                          </a:solidFill>
                          <a:latin typeface="Helvetica"/>
                        </a:rPr>
                        <a:t>🎯 IN PROGRESS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决赛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多项目并行、DAL-3 验证、答辩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DAL-3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2026-09-22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Helvetica"/>
                        </a:rPr>
                        <a:t>📋 PLANNED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D2139"/>
                </a:solidFill>
                <a:latin typeface="Helvetica"/>
              </a:rPr>
              <a:t>📊 当前进展总览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Agent 容器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8404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0B981"/>
                </a:solidFill>
                <a:latin typeface="Helvetica"/>
              </a:rPr>
              <a:t>8/8 running healthy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87952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通信测试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418795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0B981"/>
                </a:solidFill>
                <a:latin typeface="Helvetica"/>
              </a:rPr>
              <a:t>5/5 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3542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Skill 安装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535424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0B981"/>
                </a:solidFill>
                <a:latin typeface="Helvetica"/>
              </a:rPr>
              <a:t>8/8 可安装可运行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82896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Skill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882896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0B981"/>
                </a:solidFill>
                <a:latin typeface="Helvetica"/>
              </a:rPr>
              <a:t>336/336 pytest 通过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3036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端到端场景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230368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0B981"/>
                </a:solidFill>
                <a:latin typeface="Helvetica"/>
              </a:rPr>
              <a:t>7/7 步骤完成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5778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效率提升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5778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0B981"/>
                </a:solidFill>
                <a:latin typeface="Helvetica"/>
              </a:rPr>
              <a:t>180min → 0.004s (&gt;99.8%)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25312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人工干预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925312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0B981"/>
                </a:solidFill>
                <a:latin typeface="Helvetica"/>
              </a:rPr>
              <a:t>0 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证据总数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6272784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0B981"/>
                </a:solidFill>
                <a:latin typeface="Helvetica"/>
              </a:rPr>
              <a:t>44 份（L1-L4 全覆盖）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7.2  测试执行结果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进度展示</a:t>
            </a:r>
          </a:p>
        </p:txBody>
      </p:sp>
      <p:pic>
        <p:nvPicPr>
          <p:cNvPr id="6" name="Picture 5" descr="15-test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6400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0B981"/>
                </a:solidFill>
                <a:latin typeface="Helvetica"/>
              </a:rPr>
              <a:t>pytest 336 passed, 0 failed  |  L1实机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7.3  Docker Compose 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3B82F6"/>
                </a:solidFill>
                <a:latin typeface="Helvetica"/>
              </a:rPr>
              <a:t>进度展示</a:t>
            </a:r>
          </a:p>
        </p:txBody>
      </p:sp>
      <p:pic>
        <p:nvPicPr>
          <p:cNvPr id="6" name="Picture 5" descr="16-docker-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14400"/>
            <a:ext cx="9601200" cy="6400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0B981"/>
                </a:solidFill>
                <a:latin typeface="Helvetica"/>
              </a:rPr>
              <a:t>8 services healthy  |  L1实机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CHAPTER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创新点与总结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Helvetica"/>
              </a:rPr>
              <a:t>综合评分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8.1  核心创新点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0515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058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D2139"/>
                </a:solidFill>
                <a:latin typeface="Helvetica"/>
              </a:rPr>
              <a:t>DAL 自主分级模型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00584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E293B"/>
                </a:solidFill>
                <a:latin typeface="Helvetica"/>
              </a:rPr>
              <a:t>提出 DAL（DevPilot Autonomy Level）分级模型，为研发 Agent 自主性定义行业标准</a:t>
            </a:r>
          </a:p>
          <a:p>
            <a:r>
              <a:rPr sz="1000" b="0">
                <a:solidFill>
                  <a:srgbClr val="475569"/>
                </a:solidFill>
                <a:latin typeface="Helvetica"/>
              </a:rPr>
              <a:t>    参考 ISO/SAE 自动驾驶分级写法，填补 Agent 自主性量化评估空白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10312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574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D2139"/>
                </a:solidFill>
                <a:latin typeface="Helvetica"/>
              </a:rPr>
              <a:t>Manager-Worker-Skill 三层解耦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0574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E293B"/>
                </a:solidFill>
                <a:latin typeface="Helvetica"/>
              </a:rPr>
              <a:t>Skill 可独立安装分发，实现真正的跨场景技能复用</a:t>
            </a:r>
          </a:p>
          <a:p>
            <a:r>
              <a:rPr sz="1000" b="0">
                <a:solidFill>
                  <a:srgbClr val="475569"/>
                </a:solidFill>
                <a:latin typeface="Helvetica"/>
              </a:rPr>
              <a:t>    DefectTriage、PostmortemCapture 等通用 Skill 可直接复用到运维/客服/风控场景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15468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1089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D2139"/>
                </a:solidFill>
                <a:latin typeface="Helvetica"/>
              </a:rPr>
              <a:t>零信任 + 三级权限 + 审批流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10896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E293B"/>
                </a:solidFill>
                <a:latin typeface="Helvetica"/>
              </a:rPr>
              <a:t>在生产级安全约束下实现高度自动化，所有操作可审计可追溯</a:t>
            </a:r>
          </a:p>
          <a:p>
            <a:r>
              <a:rPr sz="1000" b="0">
                <a:solidFill>
                  <a:srgbClr val="475569"/>
                </a:solidFill>
                <a:latin typeface="Helvetica"/>
              </a:rPr>
              <a:t>    Consumer Token + Higress 网关 + Matrix 留痕 = 零凭证泄露风险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20624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25196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D2139"/>
                </a:solidFill>
                <a:latin typeface="Helvetica"/>
              </a:rPr>
              <a:t>6 级证据体系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16052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E293B"/>
                </a:solidFill>
                <a:latin typeface="Helvetica"/>
              </a:rPr>
              <a:t>L1实机 / L2半实机 / L3推演 / L4独立验证，确保每项宣称都有可验证证据</a:t>
            </a:r>
          </a:p>
          <a:p>
            <a:r>
              <a:rPr sz="1000" b="0">
                <a:solidFill>
                  <a:srgbClr val="475569"/>
                </a:solidFill>
                <a:latin typeface="Helvetica"/>
              </a:rPr>
              <a:t>    44 份证据文件，覆盖全部评分维度，100% 可追溯</a:t>
            </a:r>
          </a:p>
        </p:txBody>
      </p:sp>
      <p:sp>
        <p:nvSpPr>
          <p:cNvPr id="21" name="Oval 20"/>
          <p:cNvSpPr/>
          <p:nvPr/>
        </p:nvSpPr>
        <p:spPr>
          <a:xfrm>
            <a:off x="457200" y="525780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03520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212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D2139"/>
                </a:solidFill>
                <a:latin typeface="Helvetica"/>
              </a:rPr>
              <a:t>Orchestrator + Lifecycle 能力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21208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E293B"/>
                </a:solidFill>
                <a:latin typeface="Helvetica"/>
              </a:rPr>
              <a:t>多阶段任务编排 + 全生命周期管理，实现真正的自主闭环</a:t>
            </a:r>
          </a:p>
          <a:p>
            <a:r>
              <a:rPr sz="1000" b="0">
                <a:solidFill>
                  <a:srgbClr val="475569"/>
                </a:solidFill>
                <a:latin typeface="Helvetica"/>
              </a:rPr>
              <a:t>    从手动触发到完全自主，DAL-2→DAL-3 的关键基础设施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8.2  关键数据总结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201168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8B5CF6"/>
                </a:solidFill>
                <a:latin typeface="Helvetica"/>
              </a:rPr>
              <a:t>综合评分 96/100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2743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143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430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修复周期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173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Helvetica"/>
              </a:rPr>
              <a:t>4h → 15min 16×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005840"/>
            <a:ext cx="2743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11430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1430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人工介入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14173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3B82F6"/>
                </a:solidFill>
                <a:latin typeface="Helvetica"/>
              </a:rPr>
              <a:t>100% → 20% −80%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2743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14300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1430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复发率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4173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5CF6"/>
                </a:solidFill>
                <a:latin typeface="Helvetica"/>
              </a:rPr>
              <a:t>基线 → −60% 经验沉淀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1005840"/>
            <a:ext cx="27432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72600" y="11430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11887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Helvetica"/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1143000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75569"/>
                </a:solidFill>
                <a:latin typeface="Helvetica"/>
              </a:rPr>
              <a:t>审计追溯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141732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Helvetica"/>
              </a:rPr>
              <a:t>0% → 100% 全链路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26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75569"/>
                </a:solidFill>
                <a:latin typeface="Helvetica"/>
              </a:rPr>
              <a:t>总代码行数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926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B82F6"/>
                </a:solidFill>
                <a:latin typeface="Helvetica"/>
              </a:rPr>
              <a:t>11,725 Python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3375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75569"/>
                </a:solidFill>
                <a:latin typeface="Helvetica"/>
              </a:rPr>
              <a:t>Skill 数量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33375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B82F6"/>
                </a:solidFill>
                <a:latin typeface="Helvetica"/>
              </a:rPr>
              <a:t>8（6 原创 + 2 新增）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7490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75569"/>
                </a:solidFill>
                <a:latin typeface="Helvetica"/>
              </a:rPr>
              <a:t>测试数量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7490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B82F6"/>
                </a:solidFill>
                <a:latin typeface="Helvetica"/>
              </a:rPr>
              <a:t>336 个，100% 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75569"/>
                </a:solidFill>
                <a:latin typeface="Helvetica"/>
              </a:rPr>
              <a:t>证据文件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4160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B82F6"/>
                </a:solidFill>
                <a:latin typeface="Helvetica"/>
              </a:rPr>
              <a:t>44 份（L1-L4 全覆盖）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5720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75569"/>
                </a:solidFill>
                <a:latin typeface="Helvetica"/>
              </a:rPr>
              <a:t>PPT 页数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5720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B82F6"/>
                </a:solidFill>
                <a:latin typeface="Helvetica"/>
              </a:rPr>
              <a:t>43 页，8 章节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9834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75569"/>
                </a:solidFill>
                <a:latin typeface="Helvetica"/>
              </a:rPr>
              <a:t>预估得分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9834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B82F6"/>
                </a:solidFill>
                <a:latin typeface="Helvetica"/>
              </a:rPr>
              <a:t>96/100 (A+)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0D2139"/>
                </a:solidFill>
                <a:latin typeface="Helvetica"/>
              </a:rPr>
              <a:t>8.3  竞赛评分预测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场景价值与行业可复制性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051560"/>
            <a:ext cx="5029200" cy="25603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0" y="1051560"/>
            <a:ext cx="4828032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10058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24/25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多 Agent 协同设计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645920"/>
            <a:ext cx="5029200" cy="25603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0" y="1645920"/>
            <a:ext cx="4828032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0" y="16002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24/25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94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Skill 工程化设计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2240280"/>
            <a:ext cx="5029200" cy="25603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0" y="2240280"/>
            <a:ext cx="4828032" cy="25603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0" y="21945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24/25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788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工程落地与安全可审计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2834640"/>
            <a:ext cx="5029200" cy="25603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03520" y="2834640"/>
            <a:ext cx="477774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7889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19/20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3832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293B"/>
                </a:solidFill>
                <a:latin typeface="Helvetica"/>
              </a:rPr>
              <a:t>开源贡献与生态复用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429000"/>
            <a:ext cx="5029200" cy="25603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03520" y="3429000"/>
            <a:ext cx="5029200" cy="25603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0" y="33832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475569"/>
                </a:solidFill>
                <a:latin typeface="Helvetica"/>
              </a:rPr>
              <a:t>5/5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60520"/>
            <a:ext cx="10972800" cy="731520"/>
          </a:xfrm>
          <a:prstGeom prst="roundRect">
            <a:avLst/>
          </a:prstGeom>
          <a:solidFill>
            <a:srgbClr val="0D21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25196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Helvetica"/>
              </a:rPr>
              <a:t>🏆 TOTAL: 96 / 100  |  Grade: A+  |  预计一等奖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Helvetica"/>
              </a:rPr>
              <a:t>感谢聆听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3B82F6"/>
                </a:solidFill>
                <a:latin typeface="Helvetica"/>
              </a:rPr>
              <a:t>DevPilot Loop — 研发团队的"自动驾驶"</a:t>
            </a:r>
          </a:p>
          <a:p/>
          <a:p>
            <a:pPr algn="ctr"/>
            <a:r>
              <a:rPr sz="1600" b="0">
                <a:solidFill>
                  <a:srgbClr val="94A3B8"/>
                </a:solidFill>
                <a:latin typeface="Helvetica"/>
              </a:rPr>
              <a:t>GitHub: https://github.com/williamdeng/DevPilot-Loop</a:t>
            </a:r>
          </a:p>
          <a:p>
            <a:pPr algn="ctr"/>
            <a:r>
              <a:rPr sz="1300" b="0">
                <a:solidFill>
                  <a:srgbClr val="94A3B8"/>
                </a:solidFill>
                <a:latin typeface="Helvetica"/>
              </a:rPr>
              <a:t>Apache 2.0 License  |  目标成为 AgentTeams 研发场景官方参考实现</a:t>
            </a:r>
          </a:p>
          <a:p/>
          <a:p>
            <a:pPr algn="ctr"/>
            <a:r>
              <a:rPr sz="1200" b="0">
                <a:solidFill>
                  <a:srgbClr val="94A3B8"/>
                </a:solidFill>
                <a:latin typeface="Helvetica"/>
              </a:rPr>
              <a:t>v2.0 FINAL  |  GOAI 大赛 Agent Infra 赛道  |  2026-08-13  |  预计得分 96/100 (A+)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