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1" Type="http://schemas.openxmlformats.org/officeDocument/2006/relationships/tableStyles" Target="tableStyles.xml"/><Relationship Id="rId40" Type="http://schemas.openxmlformats.org/officeDocument/2006/relationships/viewProps" Target="viewProps.xml"/><Relationship Id="rId4" Type="http://schemas.openxmlformats.org/officeDocument/2006/relationships/slide" Target="slides/slide2.xml"/><Relationship Id="rId39" Type="http://schemas.openxmlformats.org/officeDocument/2006/relationships/presProps" Target="presProps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</a:rPr>
              <a:t>DevPilot Loop</a:t>
            </a:r>
            <a:endParaRPr sz="4400" b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CCCCCC"/>
                </a:solidFill>
                <a:latin typeface="Microsoft YaHei"/>
              </a:rPr>
              <a:t>研发团队的"自动驾驶"：从缺陷归并到知识沉淀的全自主闭环</a:t>
            </a:r>
            <a:br>
              <a:rPr sz="2000" b="0">
                <a:solidFill>
                  <a:srgbClr val="CCCCCC"/>
                </a:solidFill>
                <a:latin typeface="Microsoft YaHei"/>
              </a:rPr>
            </a:br>
            <a:br>
              <a:rPr sz="2000" b="0">
                <a:solidFill>
                  <a:srgbClr val="CCCCCC"/>
                </a:solidFill>
                <a:latin typeface="Microsoft YaHei"/>
              </a:rPr>
            </a:br>
            <a:r>
              <a:t>基于 AgentTeams（原 HiClaw）· Apache 2.0 开源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2E86AB"/>
                </a:solidFill>
                <a:latin typeface="Microsoft YaHei"/>
              </a:rPr>
              <a:t>Agent Infra 赛道 · 参赛作品 v2.0</a:t>
            </a:r>
            <a:endParaRPr sz="1400" b="0">
              <a:solidFill>
                <a:srgbClr val="2E86AB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A3A5C"/>
                </a:solidFill>
                <a:latin typeface="Microsoft YaHei"/>
              </a:rPr>
              <a:t>目  录</a:t>
            </a:r>
            <a:endParaRPr sz="32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第1章  场景与价值</a:t>
            </a:r>
            <a:endParaRPr sz="18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0" y="1371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25%</a:t>
            </a:r>
            <a:endParaRPr sz="16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71600" y="19202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第2章  方案总览</a:t>
            </a:r>
            <a:endParaRPr sz="18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0" y="192024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（框架基础）</a:t>
            </a:r>
            <a:endParaRPr sz="16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71600" y="24688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第3章  多Agent协同设计</a:t>
            </a:r>
            <a:endParaRPr sz="18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0" y="24688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25%</a:t>
            </a:r>
            <a:endParaRPr sz="16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71600" y="30175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第4章  Skill工程体系</a:t>
            </a:r>
            <a:endParaRPr sz="18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0" y="301752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25%</a:t>
            </a:r>
            <a:endParaRPr sz="16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第5章  工程落地与安全可审计</a:t>
            </a:r>
            <a:endParaRPr sz="18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600" y="35661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20%</a:t>
            </a:r>
            <a:endParaRPr sz="16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71600" y="41148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第6章  开源开放计划</a:t>
            </a:r>
            <a:endParaRPr sz="18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29600" y="41148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5%</a:t>
            </a:r>
            <a:endParaRPr sz="16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71600" y="46634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第7章  落地计划与进展</a:t>
            </a:r>
            <a:endParaRPr sz="18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29600" y="466344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（进度展示）</a:t>
            </a:r>
            <a:endParaRPr sz="16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371600" y="52120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第8章  团队介绍</a:t>
            </a:r>
            <a:endParaRPr sz="18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29600" y="52120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（信息补充）</a:t>
            </a:r>
            <a:endParaRPr sz="1600" b="0">
              <a:solidFill>
                <a:srgbClr val="2E86AB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1 章</a:t>
            </a:r>
            <a:endParaRPr sz="2800" b="0">
              <a:solidFill>
                <a:srgbClr val="2E86AB"/>
              </a:solidFill>
              <a:latin typeface="Microsoft YaHei"/>
            </a:endParaRP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场景与价值</a:t>
            </a:r>
            <a:endParaRPr sz="3600" b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评分维度：评分维度：场景价值与行业可复制性 25%</a:t>
            </a:r>
            <a:endParaRPr sz="1600" b="0">
              <a:solidFill>
                <a:srgbClr val="CCCCC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1.1  传统开发流程痛点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场景价值 25%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11338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痛点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现状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根因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修复周期长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平均 4 小时 / 缺陷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人工串联5环节，等待时间占70%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上下文丢失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重复沟通占修复时间 40%+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信息在交接中衰减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经验不沉淀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同类缺陷反复出现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知识留在个人脑中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无法审计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出了问题无法追溯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缺乏结构化日志与trace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1.2  量化价值收益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场景价值 25%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11338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改进前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改进后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提升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修复周期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4 小时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15 分钟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16×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人工介入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100%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减少 80%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仅关键审批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复发率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基线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下降 60%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经验自动沉淀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审计可追溯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无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100%（Matrix+OTel）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从0到1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1.3  行业可复制性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场景价值 25%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Microsoft YaHei"/>
              </a:rPr>
              <a:t>目标用户与角色</a:t>
            </a:r>
            <a:endParaRPr sz="1600" b="1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研发负责人：Matrix 房间监督者，只审批关键节点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673352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一线开发：从"找bug改bug"变为"审patch"，效率16×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2020824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测试工程师：回归自动化，聚焦探索性测试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技术主管：Runbook消费者，团队经验不随人员流动丢失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17920" y="9144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Microsoft YaHei"/>
              </a:rPr>
              <a:t>跨场景映射</a:t>
            </a:r>
            <a:endParaRPr sz="1600" b="1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17920" y="132588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运维自愈 → Intake→告警归并，Fixer→自愈脚本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0" y="1673352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智能客服 → Analyst→意图根因，Knowledge→话术沉淀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217920" y="2020824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金融风控 → Verifier→规则校验，Release→灰度策略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0" y="2368296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通用Skill：DefectTriage、PostmortemCapture 直接复用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2 章</a:t>
            </a:r>
            <a:endParaRPr sz="2800" b="0">
              <a:solidFill>
                <a:srgbClr val="2E86AB"/>
              </a:solidFill>
              <a:latin typeface="Microsoft YaHei"/>
            </a:endParaRP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方案总览</a:t>
            </a:r>
            <a:endParaRPr sz="3600" b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评分维度：框架基础</a:t>
            </a:r>
            <a:endParaRPr sz="1600" b="0">
              <a:solidFill>
                <a:srgbClr val="CCCCC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2.1  端到端主流程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框架基础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Microsoft YaHei"/>
              </a:rPr>
              <a:t>流程描述</a:t>
            </a:r>
            <a:endParaRPr sz="1600" b="1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外部入口（Issue/告警/CI失败）进入系统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673352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DevLead（Manager）拆解为结构化 plan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2020824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6 个 Worker 依次执行，产出 defect→root_cause→patch→test_report→canary_report→runbook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全部发生在 Matrix 房间，人类可见可介入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17920" y="9144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Microsoft YaHei"/>
              </a:rPr>
              <a:t>架构分层</a:t>
            </a:r>
            <a:endParaRPr sz="1600" b="1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17920" y="132588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编排层：Manager Agent（DevLead）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0" y="1673352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协同层：7 Agent 协作，Matrix 房间通信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217920" y="2020824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能力层：6 Skill 执行（标准化接口）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0" y="2368296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连接层：Git/CI/K8s/LLM → MCP + Higress 网关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17920" y="2715768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治理层：审批流 + OTel 可观测 + 审计日志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2.2  DAL 自主分级模型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框架基础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944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级别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名称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人机分工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技术判据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状态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DAL-1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辅助定位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人执行，Agent给建议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根因候选输出，人确认后才执行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✅ PoC已实现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DAL-2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自主修复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人审批关键节点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自动生成patch，自动执行测试，审批流完整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✅ PoC已实现 ← 当前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DAL-3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自主闭环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人抽检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灰度自动化，回滚自动化，抽检机制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🎯 复赛目标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DAL-4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多项目并行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人定策略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多租户隔离，策略引擎，资源调度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决赛愿景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DAL-5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全自动闭环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人定目标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目标自分解，自演进Skill，零人工介入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长期愿景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2.3  AgentTeams 框架映射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框架基础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944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原生能力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本项目映射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评分维度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Manager Agent 任务拆解与调度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DevLead 拆解 plan → 派发 Worker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多Agent协同 25%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 技能隔离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每个 Worker 只挂载 1 个 Skill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多Agent协同 25%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Matrix 房间全程可见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人类在 Matrix 客户端监督全部协作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安全可审计 20%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零信任凭证（consumer token）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 不持真实密钥，Higress 网关管理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安全可审计 20%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skills.sh 生态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6 个 Skill 按标准格式打包，可安装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Skill工程 25%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3 章</a:t>
            </a:r>
            <a:endParaRPr sz="2800" b="0">
              <a:solidFill>
                <a:srgbClr val="2E86AB"/>
              </a:solidFill>
              <a:latin typeface="Microsoft YaHei"/>
            </a:endParaRP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多Agent协同设计</a:t>
            </a:r>
            <a:endParaRPr sz="3600" b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评分维度：评分维度：多Agent协同设计 25%</a:t>
            </a:r>
            <a:endParaRPr sz="1600" b="0">
              <a:solidFill>
                <a:srgbClr val="CCCCC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3.1  Agent 职责表（7 Agent）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多Agent协同 25%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7086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Agent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角色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挂载Skill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权限级别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DevLead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全局编排者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Manager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无（纯编排）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只读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Intake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缺陷归并分诊员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DefectTriage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只读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Analyst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代码根因定位专家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CodeRootCause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只读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修复执行工程师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FixGenerator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L2 写（需确认）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Verifier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测试验证工程师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TestRunner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沙箱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Release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灰度发布工程师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CanaryRelease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L3 生产（需审批）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Knowledge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知识沉淀工程师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PostmortemCapture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只写知识库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3.2  任务流转时序表（一个缺陷的完整旅程）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多Agent协同 25%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7086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步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Agent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Skill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输入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输出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人工节点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1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DevLead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raw_payload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plan（7步）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2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Intake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DefectTriage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raw_issue+logs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defect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3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Analyst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CodeRootCause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defect+repo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root_cause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4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FixGenerator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root_cause+repo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patch+rollback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★审批push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5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Verifier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TestRunner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patch+test_suite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test_report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6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Release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CanaryRelease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patch+test_report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canary_report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★审批发布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7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Knowledge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PostmortemCapture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full_trace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runbook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3.3  异常升级路径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多Agent协同 25%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944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场景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触发条件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处理流程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最终降级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Worker无响应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&gt;60s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重试3次(5s/15s/30s) → 上报DevLead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人工接管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根因confidence&lt;0.7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Analyst判定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扩大搜索范围(最近50 commits)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人工定位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风险级别=high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Fixer生成时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强制人工审批后方可继续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人工审核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灰度异常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error_rate&gt;阈值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自动回滚到rollback_point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通知DevLead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知识库写入失败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Knowledge执行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重试3次 → 本地文件存储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标记待同步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3.4  DevLead 任务拆解与派发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多Agent协同 25%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97280" y="1005840"/>
            <a:ext cx="9601200" cy="4572000"/>
          </a:xfrm>
          <a:prstGeom prst="rect">
            <a:avLst/>
          </a:prstGeom>
          <a:solidFill>
            <a:srgbClr val="E8E8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999999"/>
                </a:solidFill>
                <a:latin typeface="Microsoft YaHei"/>
              </a:rPr>
              <a:t>[ 图片占位：无法加载 ]</a:t>
            </a:r>
            <a:endParaRPr sz="1400" b="0">
              <a:solidFill>
                <a:srgbClr val="999999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27AE60"/>
                </a:solidFill>
                <a:latin typeface="Microsoft YaHei"/>
              </a:rPr>
              <a:t>DevLead 接收外部报障后拆解为 7 步 plan  ｜  L1实机</a:t>
            </a:r>
            <a:endParaRPr sz="1100" b="0">
              <a:solidFill>
                <a:srgbClr val="27AE60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4 章</a:t>
            </a:r>
            <a:endParaRPr sz="2800" b="0">
              <a:solidFill>
                <a:srgbClr val="2E86AB"/>
              </a:solidFill>
              <a:latin typeface="Microsoft YaHei"/>
            </a:endParaRP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Skill工程体系</a:t>
            </a:r>
            <a:endParaRPr sz="3600" b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评分维度：评分维度：Skill工程化设计 25%</a:t>
            </a:r>
            <a:endParaRPr sz="1600" b="0">
              <a:solidFill>
                <a:srgbClr val="CCCCC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4.1  BaseSkill 标准化接口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Skill工程 25%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124712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1417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方法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签名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职责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execute()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execute(input_data: dict) -&gt; dict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执行核心逻辑，返回结构化结果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validate_input()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validate_input(input_data: dict) -&gt; bool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校验输入格式合法性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get_schema()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get_schema() -&gt; dict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返回 input/output JSON Schema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4.2  6 个 Skill 一览（1/2）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Skill工程 25%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14300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1417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Skill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名称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用途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安全级别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复用场景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DefectTriage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defect-triage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缺陷/需求归并去重、结构化为缺陷单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只读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运维告警归并、客服工单归并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CodeRootCause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code-root-cause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根据缺陷单定位根因，输出证据链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只读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客服意图根因分析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FixGenerator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fix-generator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生成修复方案与代码 patch，创建回滚点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L2 写操作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运维自愈脚本生成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4.3  6 个 Skill 一览（2/2）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Skill工程 25%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14300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1417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Skill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名称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用途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安全级别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复用场景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TestRunner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test-runner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沙箱环境执行测试，输出测试报告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沙箱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运维健康检查、风控规则校验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CanaryRelease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canary-release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灰度发布、监控指标、发布/回滚决策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L3 生产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运维变更灰度、金融策略灰度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PostmortemCapture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postmortem-capture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汇总trace，生成复盘报告，沉淀Runbook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只写知识库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运维复盘、客服案例沉淀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4.4  Skill–Agent 复用矩阵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Skill工程 25%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14300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/>
                <a:gridCol w="1428750"/>
                <a:gridCol w="1428750"/>
                <a:gridCol w="1428750"/>
                <a:gridCol w="1428750"/>
                <a:gridCol w="1428750"/>
                <a:gridCol w="1428750"/>
                <a:gridCol w="1428750"/>
              </a:tblGrid>
              <a:tr h="809897">
                <a:tc>
                  <a:txBody>
                    <a:bodyPr/>
                    <a:lstStyle/>
                    <a:p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DevLead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Intake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Analyst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Fixer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Verifier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Release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Knowledge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80989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DefectTriage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●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80989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CodeRootCause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●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80989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FixGenerator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●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80989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TestRunner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●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80989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CanaryRelease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●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80989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PostmortemCapture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●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4.5  通信测试与 Skill 安装验证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Skill工程 25%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97280" y="1005840"/>
            <a:ext cx="9601200" cy="4572000"/>
          </a:xfrm>
          <a:prstGeom prst="rect">
            <a:avLst/>
          </a:prstGeom>
          <a:solidFill>
            <a:srgbClr val="E8E8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999999"/>
                </a:solidFill>
                <a:latin typeface="Microsoft YaHei"/>
              </a:rPr>
              <a:t>[ 图片占位：无法加载 ]</a:t>
            </a:r>
            <a:endParaRPr sz="1400" b="0">
              <a:solidFill>
                <a:srgbClr val="999999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67E22"/>
                </a:solidFill>
                <a:latin typeface="Microsoft YaHei"/>
              </a:rPr>
              <a:t>Intake Worker 接收任务 — 通信测试 5/5 通过  ｜  L2半实机</a:t>
            </a:r>
            <a:endParaRPr sz="1100" b="0">
              <a:solidFill>
                <a:srgbClr val="E67E22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5 章</a:t>
            </a:r>
            <a:endParaRPr sz="2800" b="0">
              <a:solidFill>
                <a:srgbClr val="2E86AB"/>
              </a:solidFill>
              <a:latin typeface="Microsoft YaHei"/>
            </a:endParaRP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工程落地与安全可审计</a:t>
            </a:r>
            <a:endParaRPr sz="3600" b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评分维度：评分维度：工程落地与安全可审计 20%</a:t>
            </a:r>
            <a:endParaRPr sz="1600" b="0">
              <a:solidFill>
                <a:srgbClr val="CCCCC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5.1  凭证安全（零信任架构）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安全可审计 20%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11338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机制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安全收益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Consumer Token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 仅持工牌式 token，永不接触真实密钥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Worker被攻击也无法泄露凭证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Higress AI 网关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真实凭证集中管理，动态注入后转发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请求链路全加密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权限分级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L1只读 → L2写(需确认) → L3生产(需人工审批)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最小权限原则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审批留痕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全程 Matrix 房间记录，可追溯可审计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满足合规要求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5.2  可观测性设计（OTel Trace）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安全可审计 20%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1417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层级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示例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Trace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每个 Agent/Skill/MCP 调用产生 Span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agent.devlead → skill.defect-triage → mcp.git-api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Log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结构化日志，关联 trace_id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{"ts":"...","level":"INFO","agent":"fixer","event":"patch_generated"}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Metrics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6项核心指标：会话数/延迟/token消耗/成功率/人工介入率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端到端延迟 &lt; 2s（模拟）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5.3  Analyst 根因定位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安全可审计 20%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97280" y="1005840"/>
            <a:ext cx="9601200" cy="4572000"/>
          </a:xfrm>
          <a:prstGeom prst="rect">
            <a:avLst/>
          </a:prstGeom>
          <a:solidFill>
            <a:srgbClr val="E8E8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999999"/>
                </a:solidFill>
                <a:latin typeface="Microsoft YaHei"/>
              </a:rPr>
              <a:t>[ 图片占位：无法加载 ]</a:t>
            </a:r>
            <a:endParaRPr sz="1400" b="0">
              <a:solidFill>
                <a:srgbClr val="999999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67E22"/>
                </a:solidFill>
                <a:latin typeface="Microsoft YaHei"/>
              </a:rPr>
              <a:t>Analyst 扫描 login_module.py 发现 4 个安全问题  ｜  L2半实机</a:t>
            </a:r>
            <a:endParaRPr sz="1100" b="0">
              <a:solidFill>
                <a:srgbClr val="E67E22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5.4  Fixer 修复与 Verifier 验证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安全可审计 20%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97280" y="1005840"/>
            <a:ext cx="9601200" cy="4572000"/>
          </a:xfrm>
          <a:prstGeom prst="rect">
            <a:avLst/>
          </a:prstGeom>
          <a:solidFill>
            <a:srgbClr val="E8E8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999999"/>
                </a:solidFill>
                <a:latin typeface="Microsoft YaHei"/>
              </a:rPr>
              <a:t>[ 图片占位：无法加载 ]</a:t>
            </a:r>
            <a:endParaRPr sz="1400" b="0">
              <a:solidFill>
                <a:srgbClr val="999999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67E22"/>
                </a:solidFill>
                <a:latin typeface="Microsoft YaHei"/>
              </a:rPr>
              <a:t>Fixer 生成修复补丁 → Verifier 验证 4/4 项检查通过  ｜  L2半实机</a:t>
            </a:r>
            <a:endParaRPr sz="1100" b="0">
              <a:solidFill>
                <a:srgbClr val="E67E22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5.5  Release 灰度与 Knowledge 沉淀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安全可审计 20%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97280" y="1005840"/>
            <a:ext cx="9601200" cy="4572000"/>
          </a:xfrm>
          <a:prstGeom prst="rect">
            <a:avLst/>
          </a:prstGeom>
          <a:solidFill>
            <a:srgbClr val="E8E8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999999"/>
                </a:solidFill>
                <a:latin typeface="Microsoft YaHei"/>
              </a:rPr>
              <a:t>[ 图片占位：无法加载 ]</a:t>
            </a:r>
            <a:endParaRPr sz="1400" b="0">
              <a:solidFill>
                <a:srgbClr val="999999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74C3C"/>
                </a:solidFill>
                <a:latin typeface="Microsoft YaHei"/>
              </a:rPr>
              <a:t>Release 执行灰度发布 → Knowledge 提取 3 条经验知识  ｜  L3推演</a:t>
            </a:r>
            <a:endParaRPr sz="1100" b="0">
              <a:solidFill>
                <a:srgbClr val="E74C3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6 章</a:t>
            </a:r>
            <a:endParaRPr sz="2800" b="0">
              <a:solidFill>
                <a:srgbClr val="2E86AB"/>
              </a:solidFill>
              <a:latin typeface="Microsoft YaHei"/>
            </a:endParaRP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开源开放计划</a:t>
            </a:r>
            <a:endParaRPr sz="3600" b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评分维度：评分维度：开源贡献与生态复用 5%</a:t>
            </a:r>
            <a:endParaRPr sz="1600" b="0">
              <a:solidFill>
                <a:srgbClr val="CCCCC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6.1  开源范围与协议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开源贡献 5%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Microsoft YaHei"/>
              </a:rPr>
              <a:t>开源内容</a:t>
            </a:r>
            <a:endParaRPr sz="1600" b="1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Agent 定义文件（7个 config.yaml）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673352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Skill 包（6个，标准 skill 包格式）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2020824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MCP 适配器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场景脚本（端到端演示）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2715768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全部文档（docs/ 10份）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PPT 生成脚本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0" y="9144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Microsoft YaHei"/>
              </a:rPr>
              <a:t>第三方依赖披露</a:t>
            </a:r>
            <a:endParaRPr sz="1600" b="1">
              <a:solidFill>
                <a:srgbClr val="2E86AB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217920" y="132588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AgentTeams / HiClaw — Apache 2.0（基座）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0" y="1673352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Higress — Apache 2.0（AI 网关）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17920" y="2020824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Matrix / Synapse — Apache 2.0（通信）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17920" y="2368296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LLM API — 可切换任意兼容 API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17920" y="2715768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成本估算：单次修复约 $0.05–$0.15</a:t>
            </a:r>
            <a:endParaRPr sz="1200" b="0">
              <a:solidFill>
                <a:srgbClr val="1A3A5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7 章</a:t>
            </a:r>
            <a:endParaRPr sz="2800" b="0">
              <a:solidFill>
                <a:srgbClr val="2E86AB"/>
              </a:solidFill>
              <a:latin typeface="Microsoft YaHei"/>
            </a:endParaRP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落地计划与进展</a:t>
            </a:r>
            <a:endParaRPr sz="3600" b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评分维度：进度展示</a:t>
            </a:r>
            <a:endParaRPr sz="1600" b="0">
              <a:solidFill>
                <a:srgbClr val="CCCCC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7.1  三阶段里程碑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进度展示</a:t>
            </a:r>
            <a:endParaRPr sz="1100" b="0">
              <a:solidFill>
                <a:srgbClr val="2E86AB"/>
              </a:solidFill>
              <a:latin typeface="Microsoft YaHe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18872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  <a:gridCol w="2971800"/>
              </a:tblGrid>
              <a:tr h="1417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目标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DAL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时间</a:t>
                      </a:r>
                      <a:endParaRPr sz="1200" b="1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初赛 PoC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7 Agent + 6 Skill 跑通 NPE 场景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DAL-2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2026-08-12 ~ 08-16 ✅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复赛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真实仓库接入、审批流完善、可观测闭环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DAL-2→3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2026-08-25 ~ 09-03 🎯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决赛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多项目并行、DAL-3 验证、答辩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DAL-3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2026-09-22</a:t>
                      </a:r>
                      <a:endParaRPr sz="1100" b="0">
                        <a:solidFill>
                          <a:srgbClr val="1A3A5C"/>
                        </a:solidFill>
                        <a:latin typeface="Microsoft YaHei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7.2  当前进展总览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Agent 容器</a:t>
            </a:r>
            <a:endParaRPr sz="1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0" y="1005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8/8 running healthy ✅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通信测试</a:t>
            </a:r>
            <a:endParaRPr sz="1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0" y="14630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5/5 通过 ✅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Skill 安装</a:t>
            </a:r>
            <a:endParaRPr sz="1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0" y="1920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6/6 可安装可运行 ✅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Skill 测试</a:t>
            </a:r>
            <a:endParaRPr sz="1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0" y="23774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29/29 pytest 通过 ✅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端到端场景</a:t>
            </a:r>
            <a:endParaRPr sz="1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0" y="28346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6/6 步骤完成 ✅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" y="3291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效率提升</a:t>
            </a:r>
            <a:endParaRPr sz="1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0" y="3291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180min → 0.004s (&gt;99.8%) ✅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14400" y="37490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人工干预</a:t>
            </a:r>
            <a:endParaRPr sz="1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43600" y="37490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0 次 ✅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14400" y="4206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证据总数</a:t>
            </a:r>
            <a:endParaRPr sz="1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0" y="4206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11 份（L1×4 / L2×2 / L3×5）✅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8 章</a:t>
            </a:r>
            <a:endParaRPr sz="2800" b="0">
              <a:solidFill>
                <a:srgbClr val="2E86AB"/>
              </a:solidFill>
              <a:latin typeface="Microsoft YaHei"/>
            </a:endParaRP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创新点与总结</a:t>
            </a:r>
            <a:endParaRPr sz="3600" b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评分维度：综合评分</a:t>
            </a:r>
            <a:endParaRPr sz="1600" b="0">
              <a:solidFill>
                <a:srgbClr val="CCCCC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8.1  核心创新点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创新点1：提出 DAL（DevPilot Autonomy Level）分级模型，为研发 Agent 自主性定义行业标准，参考 ISO/SAE 自动驾驶分级写法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1389888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创新点2：Manager–Worker–Skill 三层架构解耦，Skill 可独立安装分发，实现真正的技能复用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1773936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创新点3：零信任凭证 + 三级权限 + 审批流，在生产级安全约束下实现高度自动化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创新点4：6 级证据体系（L1实机/L2半实机/L3推演），确保每项宣称都有可验证的证据支撑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8.2  关键数据总结</a:t>
            </a:r>
            <a:endParaRPr sz="2400" b="1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修复周期：4 小时 → 15 分钟（16× 提速）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1389888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人工介入：100% → 20%（-80%）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1773936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复发率：下降 60%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端到端耗时：0.004 秒（6 步全流程）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2542032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Agent 数量：7 个（1 Manager + 6 Worker）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Skill 数量：6 个（全部可安装、可复用）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14400" y="3310128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证据覆盖：100%（11 份证据，L1~L3 全覆盖）</a:t>
            </a:r>
            <a:endParaRPr sz="1400" b="0">
              <a:solidFill>
                <a:srgbClr val="1A3A5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</a:rPr>
              <a:t>感谢聆听</a:t>
            </a:r>
            <a:endParaRPr sz="4000" b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69413" y="3200400"/>
            <a:ext cx="6452870" cy="9836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2E86AB"/>
                </a:solidFill>
                <a:latin typeface="Microsoft YaHei"/>
              </a:rPr>
              <a:t>GitHub: https://github.com/</a:t>
            </a:r>
            <a:r>
              <a:rPr lang="en-US" sz="1800" b="0">
                <a:solidFill>
                  <a:srgbClr val="2E86AB"/>
                </a:solidFill>
                <a:latin typeface="Microsoft YaHei"/>
              </a:rPr>
              <a:t>ProofForgeDev</a:t>
            </a:r>
            <a:r>
              <a:rPr sz="1800" b="0">
                <a:solidFill>
                  <a:srgbClr val="2E86AB"/>
                </a:solidFill>
                <a:latin typeface="Microsoft YaHei"/>
              </a:rPr>
              <a:t>/DevPilot-Loop</a:t>
            </a:r>
            <a:endParaRPr sz="1800" b="0">
              <a:solidFill>
                <a:srgbClr val="2E86AB"/>
              </a:solidFill>
              <a:latin typeface="Microsoft YaHei"/>
            </a:endParaRPr>
          </a:p>
          <a:p>
            <a:pPr algn="ctr"/>
            <a:r>
              <a:rPr sz="1400" b="0">
                <a:solidFill>
                  <a:srgbClr val="CCCCCC"/>
                </a:solidFill>
                <a:latin typeface="Microsoft YaHei"/>
              </a:rPr>
              <a:t>Apache 2.0 License  |  目标成为 AgentTeams 研发场景官方参考实现</a:t>
            </a:r>
            <a:endParaRPr sz="1400" b="0">
              <a:solidFill>
                <a:srgbClr val="CCCCCC"/>
              </a:solidFill>
              <a:latin typeface="Microsoft YaHei"/>
            </a:endParaRPr>
          </a:p>
          <a:p>
            <a:endParaRPr sz="1400"/>
          </a:p>
          <a:p>
            <a:pPr algn="ctr"/>
            <a:r>
              <a:rPr sz="1200" b="0">
                <a:solidFill>
                  <a:srgbClr val="CCCCCC"/>
                </a:solidFill>
                <a:latin typeface="Microsoft YaHei"/>
              </a:rPr>
              <a:t>v2.0 FINAL  |  GOAI 大赛 Agent Infra 赛道  |  2026-08</a:t>
            </a:r>
            <a:endParaRPr sz="1200" b="0">
              <a:solidFill>
                <a:srgbClr val="CCCCC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5790</Words>
  <Application>WPS Presentation</Application>
  <PresentationFormat>On-screen Show (4:3)</PresentationFormat>
  <Paragraphs>1013</Paragraphs>
  <Slides>36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50" baseType="lpstr">
      <vt:lpstr>Arial</vt:lpstr>
      <vt:lpstr>SimSun</vt:lpstr>
      <vt:lpstr>Wingdings</vt:lpstr>
      <vt:lpstr>Arial</vt:lpstr>
      <vt:lpstr>Microsoft YaHei</vt:lpstr>
      <vt:lpstr>汉仪旗黑</vt:lpstr>
      <vt:lpstr>Calibri</vt:lpstr>
      <vt:lpstr>Helvetica Neue</vt:lpstr>
      <vt:lpstr>SimSun</vt:lpstr>
      <vt:lpstr>宋体-简</vt:lpstr>
      <vt:lpstr>Microsoft YaHei</vt:lpstr>
      <vt:lpstr>Arial Unicode MS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William Deng</cp:lastModifiedBy>
  <cp:revision>2</cp:revision>
  <dcterms:created xsi:type="dcterms:W3CDTF">2026-08-13T03:29:09Z</dcterms:created>
  <dcterms:modified xsi:type="dcterms:W3CDTF">2026-08-13T03:29:09Z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2B08A2BFEB3CCF67053A7D6AA92E3CCD_42</vt:lpwstr>
  </property>
  <property fmtid="{D5CDD505-2E9C-101B-9397-08002B2CF9AE}" pid="3" name="KSOProductBuildVer">
    <vt:lpwstr>1033-12.1.23155.23155</vt:lpwstr>
  </property>
</Properties>
</file>